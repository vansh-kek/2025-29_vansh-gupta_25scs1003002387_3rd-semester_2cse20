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1B3358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114800" cy="4114800"/>
          </a:xfrm>
          <a:prstGeom prst="ellipse">
            <a:avLst/>
          </a:prstGeom>
          <a:solidFill>
            <a:srgbClr val="1B3358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4008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pic>
        <p:nvPicPr>
          <p:cNvPr id="5" name="Image 0" descr="assets/iilm_logo_cropp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841248"/>
            <a:ext cx="1828800" cy="9692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Programming Internship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online internship with CodeAlpha  —  20 August to 20 September 2026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22960" y="4617720"/>
            <a:ext cx="2926080" cy="0"/>
          </a:xfrm>
          <a:prstGeom prst="line">
            <a:avLst/>
          </a:prstGeom>
          <a:noFill/>
          <a:ln w="25400">
            <a:solidFill>
              <a:srgbClr val="0E9C8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8463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931920" y="4828032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 Gupta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517550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NO.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931920" y="5157216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25SCS1003002387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550468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&amp; SEMESTER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3931920" y="5486400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3rd Semester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22960" y="58338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3931920" y="5815584"/>
            <a:ext cx="6858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the Internship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492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completed a one-month online internship in C Programming with CodeAlpha, a virtual internship platform. The program focused on building strong programming fundamentals in C — covering control structures, functions, and arrays — through two hands-on coding tasks, moving from core syntax to applied, modular programs.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383280"/>
            <a:ext cx="6492240" cy="2148840"/>
          </a:xfrm>
          <a:prstGeom prst="roundRect">
            <a:avLst>
              <a:gd name="adj" fmla="val 3404"/>
            </a:avLst>
          </a:prstGeom>
          <a:solidFill>
            <a:srgbClr val="D6F0E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5661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393192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regular B.Tech CSE curriculum introduces programming concepts, but hands-on, project-based practice outside the classroom builds deeper fluency. This internship gave me focused, self-paced practice in C — the foundation language for most other programming languages — through real coding tasks rather than just theory.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60920" y="1417320"/>
            <a:ext cx="4297680" cy="932688"/>
          </a:xfrm>
          <a:prstGeom prst="roundRect">
            <a:avLst>
              <a:gd name="adj" fmla="val 7843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60920" y="1417320"/>
            <a:ext cx="109728" cy="932688"/>
          </a:xfrm>
          <a:prstGeom prst="roundRect">
            <a:avLst/>
          </a:prstGeom>
          <a:solidFill>
            <a:srgbClr val="0E9C8C"/>
          </a:solidFill>
          <a:ln/>
        </p:spPr>
      </p:sp>
      <p:sp>
        <p:nvSpPr>
          <p:cNvPr id="10" name="Text 8"/>
          <p:cNvSpPr/>
          <p:nvPr/>
        </p:nvSpPr>
        <p:spPr>
          <a:xfrm>
            <a:off x="7635240" y="15453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635240" y="181965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CodeAlpha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60920" y="2514600"/>
            <a:ext cx="4297680" cy="932688"/>
          </a:xfrm>
          <a:prstGeom prst="roundRect">
            <a:avLst>
              <a:gd name="adj" fmla="val 7843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60920" y="2514600"/>
            <a:ext cx="109728" cy="932688"/>
          </a:xfrm>
          <a:prstGeom prst="roundRect">
            <a:avLst/>
          </a:prstGeom>
          <a:solidFill>
            <a:srgbClr val="0E9C8C"/>
          </a:solidFill>
          <a:ln/>
        </p:spPr>
      </p:sp>
      <p:sp>
        <p:nvSpPr>
          <p:cNvPr id="14" name="Text 12"/>
          <p:cNvSpPr/>
          <p:nvPr/>
        </p:nvSpPr>
        <p:spPr>
          <a:xfrm>
            <a:off x="7635240" y="26426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291693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Aug – 20 Sep 2026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60920" y="3611880"/>
            <a:ext cx="4297680" cy="932688"/>
          </a:xfrm>
          <a:prstGeom prst="roundRect">
            <a:avLst>
              <a:gd name="adj" fmla="val 7843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60920" y="3611880"/>
            <a:ext cx="109728" cy="932688"/>
          </a:xfrm>
          <a:prstGeom prst="roundRect">
            <a:avLst/>
          </a:prstGeom>
          <a:solidFill>
            <a:srgbClr val="0E9C8C"/>
          </a:solidFill>
          <a:ln/>
        </p:spPr>
      </p:sp>
      <p:sp>
        <p:nvSpPr>
          <p:cNvPr id="18" name="Text 16"/>
          <p:cNvSpPr/>
          <p:nvPr/>
        </p:nvSpPr>
        <p:spPr>
          <a:xfrm>
            <a:off x="7635240" y="373989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35240" y="401421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Online, self-paced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60920" y="4709160"/>
            <a:ext cx="4297680" cy="932688"/>
          </a:xfrm>
          <a:prstGeom prst="roundRect">
            <a:avLst>
              <a:gd name="adj" fmla="val 7843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60920" y="4709160"/>
            <a:ext cx="109728" cy="932688"/>
          </a:xfrm>
          <a:prstGeom prst="roundRect">
            <a:avLst/>
          </a:prstGeom>
          <a:solidFill>
            <a:srgbClr val="0E9C8C"/>
          </a:solidFill>
          <a:ln/>
        </p:spPr>
      </p:sp>
      <p:sp>
        <p:nvSpPr>
          <p:cNvPr id="22" name="Text 20"/>
          <p:cNvSpPr/>
          <p:nvPr/>
        </p:nvSpPr>
        <p:spPr>
          <a:xfrm>
            <a:off x="7635240" y="48371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35240" y="511149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21 Sep 2026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Internship  |  Internship Report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Internship Set Out to Build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737360"/>
            <a:ext cx="502920" cy="502920"/>
          </a:xfrm>
          <a:prstGeom prst="ellipse">
            <a:avLst/>
          </a:prstGeom>
          <a:solidFill>
            <a:srgbClr val="13233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3500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Language Fundamentals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791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solid grasp of variables, data types, and input/output using scanf() and printf().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15087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737360"/>
            <a:ext cx="502920" cy="502920"/>
          </a:xfrm>
          <a:prstGeom prst="ellipse">
            <a:avLst/>
          </a:prstGeom>
          <a:solidFill>
            <a:srgbClr val="13233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3500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Structures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26791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decision-making and looping with if-else, switch-case, and for loops, including nested loops.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38160" y="150876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737360"/>
            <a:ext cx="502920" cy="502920"/>
          </a:xfrm>
          <a:prstGeom prst="ellipse">
            <a:avLst/>
          </a:prstGeom>
          <a:solidFill>
            <a:srgbClr val="13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8366760" y="1737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366760" y="235000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Programming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366760" y="26791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to structure programs using functions to keep code organized and reusable.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749040"/>
            <a:ext cx="502920" cy="502920"/>
          </a:xfrm>
          <a:prstGeom prst="ellipse">
            <a:avLst/>
          </a:prstGeom>
          <a:solidFill>
            <a:srgbClr val="13233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3616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Data Handling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6908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with 2D arrays to store and process structured data such as matrices.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43400" y="352044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749040"/>
            <a:ext cx="502920" cy="502920"/>
          </a:xfrm>
          <a:prstGeom prst="ellipse">
            <a:avLst/>
          </a:prstGeom>
          <a:solidFill>
            <a:srgbClr val="13233F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0" y="43616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Problem-Solving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0" y="46908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real-world tasks — a calculator and matrix operations — into working C programs.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8138160" y="3520440"/>
            <a:ext cx="3611880" cy="1828800"/>
          </a:xfrm>
          <a:prstGeom prst="roundRect">
            <a:avLst>
              <a:gd name="adj" fmla="val 4000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6760" y="3749040"/>
            <a:ext cx="502920" cy="502920"/>
          </a:xfrm>
          <a:prstGeom prst="ellipse">
            <a:avLst/>
          </a:prstGeom>
          <a:solidFill>
            <a:srgbClr val="13233F"/>
          </a:solidFill>
          <a:ln/>
        </p:spPr>
      </p:sp>
      <p:sp>
        <p:nvSpPr>
          <p:cNvPr id="31" name="Text 29"/>
          <p:cNvSpPr/>
          <p:nvPr/>
        </p:nvSpPr>
        <p:spPr>
          <a:xfrm>
            <a:off x="836676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366760" y="436168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&amp; Version Control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366760" y="469087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testing, debugging, and submitting source code through GitHub.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Internship  |  Internship Report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THE INTERNSHIP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Tools, Technologies &amp; Topics Covered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month, foundation-to-applied level — focused entirely on the C programming language.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12080" cy="4251960"/>
          </a:xfrm>
          <a:prstGeom prst="roundRect">
            <a:avLst>
              <a:gd name="adj" fmla="val 1720"/>
            </a:avLst>
          </a:prstGeom>
          <a:solidFill>
            <a:srgbClr val="13233F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LANGUAGE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560320"/>
            <a:ext cx="128016" cy="128016"/>
          </a:xfrm>
          <a:prstGeom prst="ellipse">
            <a:avLst/>
          </a:prstGeom>
          <a:solidFill>
            <a:srgbClr val="0E9C8C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44144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Language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3182112"/>
            <a:ext cx="128016" cy="128016"/>
          </a:xfrm>
          <a:prstGeom prst="ellipse">
            <a:avLst/>
          </a:prstGeom>
          <a:solidFill>
            <a:srgbClr val="0E9C8C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063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68680" y="3803904"/>
            <a:ext cx="128016" cy="128016"/>
          </a:xfrm>
          <a:prstGeom prst="ellipse">
            <a:avLst/>
          </a:prstGeom>
          <a:solidFill>
            <a:srgbClr val="0E9C8C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6850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GCC Compiler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68680" y="4425696"/>
            <a:ext cx="128016" cy="128016"/>
          </a:xfrm>
          <a:prstGeom prst="ellipse">
            <a:avLst/>
          </a:prstGeom>
          <a:solidFill>
            <a:srgbClr val="0E9C8C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3068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5047488"/>
            <a:ext cx="128016" cy="128016"/>
          </a:xfrm>
          <a:prstGeom prst="ellipse">
            <a:avLst/>
          </a:prstGeom>
          <a:solidFill>
            <a:srgbClr val="0E9C8C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9286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Prompt / PowerShell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89320" y="1783080"/>
            <a:ext cx="5669280" cy="941832"/>
          </a:xfrm>
          <a:prstGeom prst="roundRect">
            <a:avLst>
              <a:gd name="adj" fmla="val 7767"/>
            </a:avLst>
          </a:prstGeom>
          <a:solidFill>
            <a:srgbClr val="D6F0EC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89280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Syntax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17920" y="2221992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data types, operators, I/O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989320" y="2907792"/>
            <a:ext cx="5669280" cy="941832"/>
          </a:xfrm>
          <a:prstGeom prst="roundRect">
            <a:avLst>
              <a:gd name="adj" fmla="val 7767"/>
            </a:avLst>
          </a:prstGeom>
          <a:solidFill>
            <a:srgbClr val="D6F0EC"/>
          </a:solidFill>
          <a:ln/>
        </p:spPr>
      </p:sp>
      <p:sp>
        <p:nvSpPr>
          <p:cNvPr id="21" name="Text 19"/>
          <p:cNvSpPr/>
          <p:nvPr/>
        </p:nvSpPr>
        <p:spPr>
          <a:xfrm>
            <a:off x="6217920" y="3017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Flow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17920" y="3346704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if-else, switch-case, for &amp; nested loops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89320" y="4032504"/>
            <a:ext cx="5669280" cy="941832"/>
          </a:xfrm>
          <a:prstGeom prst="roundRect">
            <a:avLst>
              <a:gd name="adj" fmla="val 7767"/>
            </a:avLst>
          </a:prstGeom>
          <a:solidFill>
            <a:srgbClr val="D6F0EC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0" y="4142232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217920" y="4471416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design, reusable code blocks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5157216"/>
            <a:ext cx="5669280" cy="941832"/>
          </a:xfrm>
          <a:prstGeom prst="roundRect">
            <a:avLst>
              <a:gd name="adj" fmla="val 7767"/>
            </a:avLst>
          </a:prstGeom>
          <a:solidFill>
            <a:srgbClr val="D6F0EC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526694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&amp; Matrices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217920" y="5596128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arrays, matrix operations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Internship  |  Internship Report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 Program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276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C program that performs addition, subtraction, multiplication, and division. The program uses a switch-case statement to select the required arithmetic operation based on user input.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 Applied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9C8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4107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switch-case statement for operation selection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9C8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9593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scanf() / printf() for input and output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9C8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507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 (+, -, *, /)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9C8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74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50566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input validation and program flow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Internship  |  Internship Report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Operations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27632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C program implementing matrix addition, matrix multiplication, and matrix transpose. Functions and 2D arrays were used throughout to keep the program modular and readable.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 Applied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9C8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4290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34107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arrays for matrix storage and traversal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9C8C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9593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functions for addition, multiplication &amp; transpose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52628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9C8C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526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51560" y="45079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 for row-by-row, column-by-column processing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E9C8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749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505663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program structure for readability and reuse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Internship  |  Internship Report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&amp; KNOWLEDGE GAINED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Can Now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682496"/>
            <a:ext cx="329184" cy="329184"/>
          </a:xfrm>
          <a:prstGeom prst="ellipse">
            <a:avLst/>
          </a:prstGeom>
          <a:solidFill>
            <a:srgbClr val="0E9C8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4630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fundamentals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4630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62272" y="1682496"/>
            <a:ext cx="329184" cy="329184"/>
          </a:xfrm>
          <a:prstGeom prst="ellipse">
            <a:avLst/>
          </a:prstGeom>
          <a:solidFill>
            <a:srgbClr val="0E9C8C"/>
          </a:solidFill>
          <a:ln/>
        </p:spPr>
      </p:sp>
      <p:sp>
        <p:nvSpPr>
          <p:cNvPr id="10" name="Text 8"/>
          <p:cNvSpPr/>
          <p:nvPr/>
        </p:nvSpPr>
        <p:spPr>
          <a:xfrm>
            <a:off x="4462272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4630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and data types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0" y="14630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1312" y="1682496"/>
            <a:ext cx="329184" cy="329184"/>
          </a:xfrm>
          <a:prstGeom prst="ellipse">
            <a:avLst/>
          </a:prstGeom>
          <a:solidFill>
            <a:srgbClr val="0E9C8C"/>
          </a:solidFill>
          <a:ln/>
        </p:spPr>
      </p:sp>
      <p:sp>
        <p:nvSpPr>
          <p:cNvPr id="14" name="Text 12"/>
          <p:cNvSpPr/>
          <p:nvPr/>
        </p:nvSpPr>
        <p:spPr>
          <a:xfrm>
            <a:off x="8211312" y="1682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41080" y="14630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 with scanf() &amp; printf()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3774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2596896"/>
            <a:ext cx="329184" cy="329184"/>
          </a:xfrm>
          <a:prstGeom prst="ellipse">
            <a:avLst/>
          </a:prstGeom>
          <a:solidFill>
            <a:srgbClr val="0E9C8C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43000" y="23774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operators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97680" y="23774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462272" y="2596896"/>
            <a:ext cx="329184" cy="329184"/>
          </a:xfrm>
          <a:prstGeom prst="ellipse">
            <a:avLst/>
          </a:prstGeom>
          <a:solidFill>
            <a:srgbClr val="0E9C8C"/>
          </a:solidFill>
          <a:ln/>
        </p:spPr>
      </p:sp>
      <p:sp>
        <p:nvSpPr>
          <p:cNvPr id="22" name="Text 20"/>
          <p:cNvSpPr/>
          <p:nvPr/>
        </p:nvSpPr>
        <p:spPr>
          <a:xfrm>
            <a:off x="4462272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92040" y="23774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switch-case &amp; if-else logic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23774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11312" y="2596896"/>
            <a:ext cx="329184" cy="329184"/>
          </a:xfrm>
          <a:prstGeom prst="ellipse">
            <a:avLst/>
          </a:prstGeom>
          <a:solidFill>
            <a:srgbClr val="0E9C8C"/>
          </a:solidFill>
          <a:ln/>
        </p:spPr>
      </p:sp>
      <p:sp>
        <p:nvSpPr>
          <p:cNvPr id="26" name="Text 24"/>
          <p:cNvSpPr/>
          <p:nvPr/>
        </p:nvSpPr>
        <p:spPr>
          <a:xfrm>
            <a:off x="8211312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41080" y="23774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loops and nested loops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32918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13232" y="3511296"/>
            <a:ext cx="329184" cy="329184"/>
          </a:xfrm>
          <a:prstGeom prst="ellipse">
            <a:avLst/>
          </a:prstGeom>
          <a:solidFill>
            <a:srgbClr val="0E9C8C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143000" y="32918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arrays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97680" y="32918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62272" y="3511296"/>
            <a:ext cx="329184" cy="329184"/>
          </a:xfrm>
          <a:prstGeom prst="ellipse">
            <a:avLst/>
          </a:prstGeom>
          <a:solidFill>
            <a:srgbClr val="0E9C8C"/>
          </a:solidFill>
          <a:ln/>
        </p:spPr>
      </p:sp>
      <p:sp>
        <p:nvSpPr>
          <p:cNvPr id="34" name="Text 32"/>
          <p:cNvSpPr/>
          <p:nvPr/>
        </p:nvSpPr>
        <p:spPr>
          <a:xfrm>
            <a:off x="4462272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2040" y="32918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custom functions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046720" y="32918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11312" y="3511296"/>
            <a:ext cx="329184" cy="329184"/>
          </a:xfrm>
          <a:prstGeom prst="ellipse">
            <a:avLst/>
          </a:prstGeom>
          <a:solidFill>
            <a:srgbClr val="0E9C8C"/>
          </a:solidFill>
          <a:ln/>
        </p:spPr>
      </p:sp>
      <p:sp>
        <p:nvSpPr>
          <p:cNvPr id="38" name="Text 36"/>
          <p:cNvSpPr/>
          <p:nvPr/>
        </p:nvSpPr>
        <p:spPr>
          <a:xfrm>
            <a:off x="8211312" y="35112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641080" y="32918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operations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42062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" y="4425696"/>
            <a:ext cx="329184" cy="329184"/>
          </a:xfrm>
          <a:prstGeom prst="ellipse">
            <a:avLst/>
          </a:prstGeom>
          <a:solidFill>
            <a:srgbClr val="0E9C8C"/>
          </a:solidFill>
          <a:ln/>
        </p:spPr>
      </p:sp>
      <p:sp>
        <p:nvSpPr>
          <p:cNvPr id="42" name="Text 40"/>
          <p:cNvSpPr/>
          <p:nvPr/>
        </p:nvSpPr>
        <p:spPr>
          <a:xfrm>
            <a:off x="713232" y="4425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143000" y="4206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and testing programs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297680" y="42062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62272" y="4425696"/>
            <a:ext cx="329184" cy="329184"/>
          </a:xfrm>
          <a:prstGeom prst="ellipse">
            <a:avLst/>
          </a:prstGeom>
          <a:solidFill>
            <a:srgbClr val="0E9C8C"/>
          </a:solidFill>
          <a:ln/>
        </p:spPr>
      </p:sp>
      <p:sp>
        <p:nvSpPr>
          <p:cNvPr id="46" name="Text 44"/>
          <p:cNvSpPr/>
          <p:nvPr/>
        </p:nvSpPr>
        <p:spPr>
          <a:xfrm>
            <a:off x="4462272" y="4425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892040" y="4206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problems into smaller steps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046720" y="42062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11312" y="4425696"/>
            <a:ext cx="329184" cy="329184"/>
          </a:xfrm>
          <a:prstGeom prst="ellipse">
            <a:avLst/>
          </a:prstGeom>
          <a:solidFill>
            <a:srgbClr val="0E9C8C"/>
          </a:solidFill>
          <a:ln/>
        </p:spPr>
      </p:sp>
      <p:sp>
        <p:nvSpPr>
          <p:cNvPr id="50" name="Text 48"/>
          <p:cNvSpPr/>
          <p:nvPr/>
        </p:nvSpPr>
        <p:spPr>
          <a:xfrm>
            <a:off x="8211312" y="44256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641080" y="420624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GitHub for source-code submission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Internship  |  Internship Report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REFLECTION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Was Hard, and What It Taught 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7F9FB"/>
          </a:solidFill>
          <a:ln w="12700">
            <a:solidFill>
              <a:srgbClr val="E3E8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203704"/>
            <a:ext cx="109728" cy="109728"/>
          </a:xfrm>
          <a:prstGeom prst="ellipse">
            <a:avLst/>
          </a:prstGeom>
          <a:solidFill>
            <a:srgbClr val="13233F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05740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programming logic for new problem types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072384"/>
            <a:ext cx="109728" cy="109728"/>
          </a:xfrm>
          <a:prstGeom prst="ellipse">
            <a:avLst/>
          </a:prstGeom>
          <a:solidFill>
            <a:srgbClr val="13233F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926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nested loops across multiple levels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22960" y="3941064"/>
            <a:ext cx="109728" cy="109728"/>
          </a:xfrm>
          <a:prstGeom prst="ellipse">
            <a:avLst/>
          </a:prstGeom>
          <a:solidFill>
            <a:srgbClr val="13233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794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Grasping matrix operations conceptually before coding them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809744"/>
            <a:ext cx="109728" cy="109728"/>
          </a:xfrm>
          <a:prstGeom prst="ellipse">
            <a:avLst/>
          </a:prstGeom>
          <a:solidFill>
            <a:srgbClr val="13233F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46634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and when to structure code using functions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89320" y="1463040"/>
            <a:ext cx="5669280" cy="4572000"/>
          </a:xfrm>
          <a:prstGeom prst="roundRect">
            <a:avLst>
              <a:gd name="adj" fmla="val 1600"/>
            </a:avLst>
          </a:prstGeom>
          <a:solidFill>
            <a:srgbClr val="13233F"/>
          </a:solidFill>
          <a:ln/>
        </p:spPr>
      </p:sp>
      <p:sp>
        <p:nvSpPr>
          <p:cNvPr id="15" name="Text 13"/>
          <p:cNvSpPr/>
          <p:nvPr/>
        </p:nvSpPr>
        <p:spPr>
          <a:xfrm>
            <a:off x="6263640" y="1691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REFLECTION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63640" y="21488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internship, I learned how to break a programming problem into smaller steps, test programs with different inputs, identify errors, and improve my understanding through practical implementation.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on the calculator and matrix projects helped me gain real confidence in writing and debugging C programs — skills I expect to build on directly in my future coursework and projects.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Internship  |  Internship Report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828800"/>
            <a:ext cx="4206240" cy="4206240"/>
          </a:xfrm>
          <a:prstGeom prst="ellipse">
            <a:avLst/>
          </a:prstGeom>
          <a:solidFill>
            <a:srgbClr val="1B335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9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STATUS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Completion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1B335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542032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0A8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yet issued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B3358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5204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ISSUING PLATFORM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CodeAlpha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080760" y="3291840"/>
            <a:ext cx="5349240" cy="1280160"/>
          </a:xfrm>
          <a:prstGeom prst="roundRect">
            <a:avLst>
              <a:gd name="adj" fmla="val 5714"/>
            </a:avLst>
          </a:prstGeom>
          <a:solidFill>
            <a:srgbClr val="1B335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3520440"/>
            <a:ext cx="4709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ISSUE DATE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0" y="37947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 September 2026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48463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CodeAlpha's submission confirmation states that the certificate and letter of recommendation will be provided on 21 September 2026. A copy will be attached as an annexure to the full written report once received.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Internship  |  Internship Report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Programming Internship  |  Internship Report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E93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2011680"/>
            <a:ext cx="5943600" cy="5943600"/>
          </a:xfrm>
          <a:prstGeom prst="ellipse">
            <a:avLst/>
          </a:prstGeom>
          <a:solidFill>
            <a:srgbClr val="1B3358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46888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5088636" y="3429000"/>
            <a:ext cx="2011680" cy="0"/>
          </a:xfrm>
          <a:prstGeom prst="line">
            <a:avLst/>
          </a:prstGeom>
          <a:noFill/>
          <a:ln w="25400">
            <a:solidFill>
              <a:srgbClr val="0E9C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6118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F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Vansh Gupta  ·  25SCS1003002387  ·  B.Tech CSE, IILM University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0" y="397764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D6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Report — C Programming — CodeAlpha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2026-09-10T15:34:06Z</dcterms:created>
  <dcterms:modified xsi:type="dcterms:W3CDTF">2026-09-10T15:34:06Z</dcterms:modified>
</cp:coreProperties>
</file>